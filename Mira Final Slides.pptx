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Be Vietnam Pro ExtraLight"/>
      <p:regular r:id="rId25"/>
      <p:bold r:id="rId26"/>
      <p:italic r:id="rId27"/>
      <p:boldItalic r:id="rId28"/>
    </p:embeddedFont>
    <p:embeddedFont>
      <p:font typeface="Be Vietnam Pro"/>
      <p:regular r:id="rId29"/>
      <p:bold r:id="rId30"/>
      <p:italic r:id="rId31"/>
      <p:boldItalic r:id="rId32"/>
    </p:embeddedFont>
    <p:embeddedFont>
      <p:font typeface="Be Vietnam Pro Thin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eVietnamProExtraLight-bold.fntdata"/><Relationship Id="rId25" Type="http://schemas.openxmlformats.org/officeDocument/2006/relationships/font" Target="fonts/BeVietnamProExtraLight-regular.fntdata"/><Relationship Id="rId28" Type="http://schemas.openxmlformats.org/officeDocument/2006/relationships/font" Target="fonts/BeVietnamProExtraLight-boldItalic.fntdata"/><Relationship Id="rId27" Type="http://schemas.openxmlformats.org/officeDocument/2006/relationships/font" Target="fonts/BeVietnamProExtra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Vietnam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VietnamPro-italic.fntdata"/><Relationship Id="rId30" Type="http://schemas.openxmlformats.org/officeDocument/2006/relationships/font" Target="fonts/BeVietnamPro-bold.fntdata"/><Relationship Id="rId11" Type="http://schemas.openxmlformats.org/officeDocument/2006/relationships/slide" Target="slides/slide6.xml"/><Relationship Id="rId33" Type="http://schemas.openxmlformats.org/officeDocument/2006/relationships/font" Target="fonts/BeVietnamProThin-regular.fntdata"/><Relationship Id="rId10" Type="http://schemas.openxmlformats.org/officeDocument/2006/relationships/slide" Target="slides/slide5.xml"/><Relationship Id="rId32" Type="http://schemas.openxmlformats.org/officeDocument/2006/relationships/font" Target="fonts/BeVietnamPro-boldItalic.fntdata"/><Relationship Id="rId13" Type="http://schemas.openxmlformats.org/officeDocument/2006/relationships/slide" Target="slides/slide8.xml"/><Relationship Id="rId35" Type="http://schemas.openxmlformats.org/officeDocument/2006/relationships/font" Target="fonts/BeVietnamProThin-italic.fntdata"/><Relationship Id="rId12" Type="http://schemas.openxmlformats.org/officeDocument/2006/relationships/slide" Target="slides/slide7.xml"/><Relationship Id="rId34" Type="http://schemas.openxmlformats.org/officeDocument/2006/relationships/font" Target="fonts/BeVietnamProThin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BeVietnamProThin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978174a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978174a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78174a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78174a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b5245427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b5245427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a978174a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a978174a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978174a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a978174a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978174a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a978174a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978174a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a978174a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18831b00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18831b00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978174a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a978174a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978174a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978174a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a978174a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a978174a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978174a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978174a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18831b00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18831b00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c7cd5c8b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c7cd5c8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a978174a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a978174a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a978174a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a978174a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a978174a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a978174a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names: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inspections * - greatest difference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competitors - they stop turbine though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978174a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a978174a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0.png"/><Relationship Id="rId13" Type="http://schemas.openxmlformats.org/officeDocument/2006/relationships/image" Target="../media/image12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dBMRL7boxaoDVCiCsTRiC3nem7Xaq21I/view" TargetMode="External"/><Relationship Id="rId4" Type="http://schemas.openxmlformats.org/officeDocument/2006/relationships/image" Target="../media/image27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875" y="-38808"/>
            <a:ext cx="9166876" cy="518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3675" y="3611741"/>
            <a:ext cx="1473625" cy="2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39878" l="0" r="45190" t="0"/>
          <a:stretch/>
        </p:blipFill>
        <p:spPr>
          <a:xfrm>
            <a:off x="1867275" y="3345975"/>
            <a:ext cx="1060425" cy="2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904478" y="3222986"/>
            <a:ext cx="1764900" cy="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EFEFEF"/>
                </a:solidFill>
                <a:latin typeface="Be Vietnam Pro Thin"/>
                <a:ea typeface="Be Vietnam Pro Thin"/>
                <a:cs typeface="Be Vietnam Pro Thin"/>
                <a:sym typeface="Be Vietnam Pro Thin"/>
              </a:rPr>
              <a:t>December 12, 2025</a:t>
            </a:r>
            <a:endParaRPr sz="700">
              <a:solidFill>
                <a:srgbClr val="EFEFEF"/>
              </a:solidFill>
              <a:latin typeface="Be Vietnam Pro Thin"/>
              <a:ea typeface="Be Vietnam Pro Thin"/>
              <a:cs typeface="Be Vietnam Pro Thin"/>
              <a:sym typeface="Be Vietnam Pro Th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0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350" y="1330325"/>
            <a:ext cx="3780375" cy="30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650" y="3959495"/>
            <a:ext cx="4089075" cy="10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7">
            <a:alphaModFix/>
          </a:blip>
          <a:srcRect b="0" l="0" r="1341" t="0"/>
          <a:stretch/>
        </p:blipFill>
        <p:spPr>
          <a:xfrm>
            <a:off x="4525600" y="1628075"/>
            <a:ext cx="4556476" cy="25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8">
            <a:alphaModFix/>
          </a:blip>
          <a:srcRect b="76274" l="0" r="0" t="8272"/>
          <a:stretch/>
        </p:blipFill>
        <p:spPr>
          <a:xfrm>
            <a:off x="1071525" y="3532375"/>
            <a:ext cx="1462800" cy="1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 rotWithShape="1">
          <a:blip r:embed="rId9">
            <a:alphaModFix/>
          </a:blip>
          <a:srcRect b="0" l="0" r="0" t="37110"/>
          <a:stretch/>
        </p:blipFill>
        <p:spPr>
          <a:xfrm>
            <a:off x="2637644" y="4680778"/>
            <a:ext cx="1462800" cy="1963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" name="Google Shape;73;p14"/>
          <p:cNvGrpSpPr/>
          <p:nvPr/>
        </p:nvGrpSpPr>
        <p:grpSpPr>
          <a:xfrm>
            <a:off x="938650" y="1523151"/>
            <a:ext cx="7266706" cy="1749714"/>
            <a:chOff x="938650" y="1523151"/>
            <a:chExt cx="7266706" cy="1749714"/>
          </a:xfrm>
        </p:grpSpPr>
        <p:pic>
          <p:nvPicPr>
            <p:cNvPr id="74" name="Google Shape;74;p14"/>
            <p:cNvPicPr preferRelativeResize="0"/>
            <p:nvPr/>
          </p:nvPicPr>
          <p:blipFill rotWithShape="1">
            <a:blip r:embed="rId10">
              <a:alphaModFix/>
            </a:blip>
            <a:srcRect b="9918" l="0" r="0" t="0"/>
            <a:stretch/>
          </p:blipFill>
          <p:spPr>
            <a:xfrm>
              <a:off x="2874550" y="1527801"/>
              <a:ext cx="1462800" cy="17406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75" name="Google Shape;75;p14"/>
            <p:cNvPicPr preferRelativeResize="0"/>
            <p:nvPr/>
          </p:nvPicPr>
          <p:blipFill rotWithShape="1">
            <a:blip r:embed="rId11">
              <a:alphaModFix/>
            </a:blip>
            <a:srcRect b="10346" l="0" r="0" t="0"/>
            <a:stretch/>
          </p:blipFill>
          <p:spPr>
            <a:xfrm>
              <a:off x="938650" y="1523151"/>
              <a:ext cx="1462800" cy="17406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76" name="Google Shape;76;p14"/>
            <p:cNvPicPr preferRelativeResize="0"/>
            <p:nvPr/>
          </p:nvPicPr>
          <p:blipFill rotWithShape="1">
            <a:blip r:embed="rId12">
              <a:alphaModFix/>
            </a:blip>
            <a:srcRect b="9918" l="0" r="0" t="0"/>
            <a:stretch/>
          </p:blipFill>
          <p:spPr>
            <a:xfrm>
              <a:off x="4758581" y="1523339"/>
              <a:ext cx="1462800" cy="17406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77" name="Google Shape;77;p14"/>
            <p:cNvPicPr preferRelativeResize="0"/>
            <p:nvPr/>
          </p:nvPicPr>
          <p:blipFill rotWithShape="1">
            <a:blip r:embed="rId13">
              <a:alphaModFix/>
            </a:blip>
            <a:srcRect b="10354" l="0" r="0" t="0"/>
            <a:stretch/>
          </p:blipFill>
          <p:spPr>
            <a:xfrm>
              <a:off x="6742556" y="1532264"/>
              <a:ext cx="1462800" cy="1740600"/>
            </a:xfrm>
            <a:prstGeom prst="ellipse">
              <a:avLst/>
            </a:prstGeom>
            <a:noFill/>
            <a:ln>
              <a:noFill/>
            </a:ln>
          </p:spPr>
        </p:pic>
      </p:grpSp>
      <p:pic>
        <p:nvPicPr>
          <p:cNvPr id="78" name="Google Shape;78;p14"/>
          <p:cNvPicPr preferRelativeResize="0"/>
          <p:nvPr/>
        </p:nvPicPr>
        <p:blipFill rotWithShape="1">
          <a:blip r:embed="rId8">
            <a:alphaModFix/>
          </a:blip>
          <a:srcRect b="5876" l="0" r="0" t="78669"/>
          <a:stretch/>
        </p:blipFill>
        <p:spPr>
          <a:xfrm>
            <a:off x="6742550" y="3511001"/>
            <a:ext cx="1462800" cy="1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 rotWithShape="1">
          <a:blip r:embed="rId8">
            <a:alphaModFix/>
          </a:blip>
          <a:srcRect b="49850" l="0" r="0" t="32308"/>
          <a:stretch/>
        </p:blipFill>
        <p:spPr>
          <a:xfrm>
            <a:off x="3062800" y="3526674"/>
            <a:ext cx="1462800" cy="2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 rotWithShape="1">
          <a:blip r:embed="rId8">
            <a:alphaModFix/>
          </a:blip>
          <a:srcRect b="30748" l="0" r="0" t="56867"/>
          <a:stretch/>
        </p:blipFill>
        <p:spPr>
          <a:xfrm>
            <a:off x="4847150" y="3527154"/>
            <a:ext cx="1462800" cy="1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12100"/>
            <a:ext cx="4381250" cy="28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2400" y="-55050"/>
            <a:ext cx="9176400" cy="52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6">
            <a:alphaModFix/>
          </a:blip>
          <a:srcRect b="6968" l="9818" r="11885" t="27409"/>
          <a:stretch/>
        </p:blipFill>
        <p:spPr>
          <a:xfrm>
            <a:off x="4828100" y="2023900"/>
            <a:ext cx="3869025" cy="191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7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5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62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842" t="0"/>
          <a:stretch/>
        </p:blipFill>
        <p:spPr>
          <a:xfrm>
            <a:off x="0" y="1400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825" y="3536025"/>
            <a:ext cx="7983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577356" y="3594471"/>
            <a:ext cx="224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Be Vietnam Pro"/>
                <a:ea typeface="Be Vietnam Pro"/>
                <a:cs typeface="Be Vietnam Pro"/>
                <a:sym typeface="Be Vietnam Pro"/>
              </a:rPr>
              <a:t>Risk Bias: </a:t>
            </a:r>
            <a:endParaRPr b="1" sz="1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5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9950" y="1608210"/>
            <a:ext cx="4432123" cy="2664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7942"/>
            <a:ext cx="9144001" cy="5211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8050" y="1768300"/>
            <a:ext cx="4294999" cy="24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75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5687351" y="3867533"/>
            <a:ext cx="20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*</a:t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288" y="1663100"/>
            <a:ext cx="4012775" cy="6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1" y="4770925"/>
            <a:ext cx="550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Be Vietnam Pro ExtraLight"/>
                <a:ea typeface="Be Vietnam Pro ExtraLight"/>
                <a:cs typeface="Be Vietnam Pro ExtraLight"/>
                <a:sym typeface="Be Vietnam Pro ExtraLight"/>
              </a:rPr>
              <a:t>Cost ranges are constructed from published blade repair and replacement figures (e.g., Mishnaevsky 2019; Gurit/PES 2020; Belzona 5721; nVent 2011; Polytech 2025; ORE Catapult BLEEP; NREL maintenance cost studies), with ΔC values chosen as conservative midpoints within those ranges.</a:t>
            </a:r>
            <a:endParaRPr sz="600">
              <a:latin typeface="Be Vietnam Pro ExtraLight"/>
              <a:ea typeface="Be Vietnam Pro ExtraLight"/>
              <a:cs typeface="Be Vietnam Pro ExtraLight"/>
              <a:sym typeface="Be Vietnam Pro Extra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8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44562"/>
            <a:ext cx="9144000" cy="27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 rotWithShape="1">
          <a:blip r:embed="rId6">
            <a:alphaModFix/>
          </a:blip>
          <a:srcRect b="0" l="868" r="1513" t="1960"/>
          <a:stretch/>
        </p:blipFill>
        <p:spPr>
          <a:xfrm>
            <a:off x="1212275" y="2144550"/>
            <a:ext cx="6719451" cy="29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b="1999" l="0" r="0" t="0"/>
          <a:stretch/>
        </p:blipFill>
        <p:spPr>
          <a:xfrm>
            <a:off x="0" y="-46375"/>
            <a:ext cx="9144000" cy="51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00"/>
            <a:ext cx="9190549" cy="51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3650" y="3138850"/>
            <a:ext cx="298546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3275"/>
            <a:ext cx="9144002" cy="524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2" y="0"/>
            <a:ext cx="912657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1075" y="2150875"/>
            <a:ext cx="818175" cy="1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2650" y="2433575"/>
            <a:ext cx="818175" cy="1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400" y="2908600"/>
            <a:ext cx="818175" cy="1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125" y="3389825"/>
            <a:ext cx="818175" cy="1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0375" y="3864875"/>
            <a:ext cx="818175" cy="1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400" y="4358525"/>
            <a:ext cx="818175" cy="1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400" y="2931038"/>
            <a:ext cx="3968125" cy="12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250" y="4136250"/>
            <a:ext cx="4902303" cy="5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10800000">
            <a:off x="7048949" y="1472580"/>
            <a:ext cx="1634100" cy="1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10800000">
            <a:off x="8206825" y="1719650"/>
            <a:ext cx="766900" cy="2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10800000">
            <a:off x="8148275" y="1952350"/>
            <a:ext cx="766900" cy="2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10800000">
            <a:off x="7760875" y="2276888"/>
            <a:ext cx="766900" cy="2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10800000">
            <a:off x="4643525" y="2747650"/>
            <a:ext cx="766900" cy="2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3525" y="2759532"/>
            <a:ext cx="4130300" cy="103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8000" y="3736450"/>
            <a:ext cx="3183075" cy="5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1588" y="2797175"/>
            <a:ext cx="2188833" cy="2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75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7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0766"/>
            <a:ext cx="9143998" cy="517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1" title="Screen Recording 2025-11-25 at 10.56.20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23088"/>
            <a:ext cx="6858000" cy="50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48050" y="4601375"/>
            <a:ext cx="434025" cy="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